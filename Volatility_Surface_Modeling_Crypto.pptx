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9E8A"/>
          </a:solidFill>
          <a:ln w="12700">
            <a:solidFill>
              <a:srgbClr val="009E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315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Surface Modeling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1627632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Cryptocurrencies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578608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&amp; Ethereum  ·  </a:t>
            </a:r>
            <a:pPr algn="ctr" indent="0" marL="0">
              <a:buNone/>
            </a:pPr>
            <a:r>
              <a:rPr lang="en-US" sz="15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/ SSVI / eSSVI / SABR</a:t>
            </a:r>
            <a:pPr algn="ctr" indent="0" marL="0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Deribit Options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Quant Awards  ·  December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85800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10515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758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1887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crypto options market, inverse contracts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21408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21408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" y="2487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6243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Lucic &amp; Sepp, Raw SVI, SSVI, eSSVI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57016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57016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39227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630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0599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filtering, arbitrage quote removal, IV computation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685800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685800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05156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7589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Framework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11887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functions, optimizers, arbitrage penalties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121408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21408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487168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2194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26243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RMSE, relative RMSE, price error, surface quality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557016"/>
            <a:ext cx="4297680" cy="1261872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57016"/>
            <a:ext cx="457200" cy="12618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3922776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6301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No-Arbitrage Surfaces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405993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&amp; calendar constraints, fitted surfaces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Cryptocurrency Volatility Surfaces?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crypto options market has grown rapidly — Deribit holds </a:t>
            </a:r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 of open interest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Unlike equities, options are predominantly </a:t>
            </a:r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(coin-margined) contracts</a:t>
            </a:r>
            <a:pPr indent="0" marL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creating unique pricing and hedging challenges that demand dedicated surface models.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77840" y="621792"/>
            <a:ext cx="3337560" cy="1207008"/>
          </a:xfrm>
          <a:prstGeom prst="rect">
            <a:avLst/>
          </a:prstGeom>
          <a:solidFill>
            <a:srgbClr val="1A2E44"/>
          </a:solidFill>
          <a:ln w="254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0" y="7132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0" y="1261872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Deribit market share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crypto options OI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2057400"/>
            <a:ext cx="3337560" cy="1207008"/>
          </a:xfrm>
          <a:prstGeom prst="rect">
            <a:avLst/>
          </a:prstGeom>
          <a:solidFill>
            <a:srgbClr val="1A2E44"/>
          </a:solidFill>
          <a:ln w="254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0" y="214884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&amp; ETH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669280" y="26974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assets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(Deribit)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3493008"/>
            <a:ext cx="3337560" cy="1207008"/>
          </a:xfrm>
          <a:prstGeom prst="rect">
            <a:avLst/>
          </a:prstGeom>
          <a:solidFill>
            <a:srgbClr val="1A2E44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35844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100–400%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669280" y="413308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Short-maturity IV levels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crypto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Motivations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2212848"/>
            <a:ext cx="512064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contracts require change of numéraire (Lucic &amp; Sepp, 2024)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must be adjusted by option premium — non-standard compared to equity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Short-maturity IV can reach 200–400% — standard equity model initializations fail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vol risk premium: systematic vol-selling strategies show positive alpha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Arbitrage-free surface needed for downstream market making and risk management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Lucic &amp; Sepp (2024) — Inverse Options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Lucic, A. Sepp — 'Valuation and Hedging of Cryptocurrency Inverse Options' — Forthcoming in Quantitative Finance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283464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24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Contribution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" y="1371600"/>
            <a:ext cx="265176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options are vanilla options under the forward numéraire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of measure: delta adjusted by option premium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Black-76 framework maps directly to Deribit inverse contracts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Justifies using Black IV as primary calibration target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987552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72968" y="987552"/>
            <a:ext cx="283464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1024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Results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371600"/>
            <a:ext cx="265176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years of BTC &amp; ETH Deribit data backtested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and Coin P&amp;L accounting are equivalent in respective units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risk premium: options overprice realised volatility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Vol-selling delta-hedged strategies show positive long-run alpha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17336" y="987552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17336" y="987552"/>
            <a:ext cx="283464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1024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to This 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27064" y="1371600"/>
            <a:ext cx="265176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forward F=1 convention throughout our calibration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mark_iv from Deribit directly used as target σ(k)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vol risk premium study as follow-up project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making application: surface → quote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SVI — Gatheral &amp; Jacquier (2013)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66928"/>
            <a:ext cx="8686800" cy="566928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2179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w(k) = a + b · [ ρ(k−m) + √((k−m)² + σ²) ]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75488" cy="5120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3502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variance level — vertical shift (positions ATM vol)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29384"/>
            <a:ext cx="475488" cy="5120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00253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1248" y="20391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width and wings curvature  (b ≥ 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475488" cy="5120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700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27066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/ slope parameter  (−1 &lt; ρ &lt; 1)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64408"/>
            <a:ext cx="475488" cy="5120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3756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" y="33741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shift — ATM location in log-strike space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931920"/>
            <a:ext cx="475488" cy="5120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05072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 smoothness / curvature at the minimum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26187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&amp; Arbitrage Conditions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664208"/>
            <a:ext cx="4297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in |k| → ∞ consistent with Roger Lee's moment formula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Large-maturity limit of Heston smile is exactly SVI (Gatheral)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Butterfly-free iff  g(k) = (1−kw'/2w)² − w'²(1/w+¼)/4 + w''/2 ≥ 0  ∀k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Calendar-free iff  w(k,T₁) ≤ w(k,T₂)  for T₁ &lt; T₂  ∀k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min_g() computes the minimum of g(k) analytically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can be arbitrageable — SSVI/eSSVI provide global guarantees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SSVI — Surface SVI (Gatheral &amp; Jacquier, 2014)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566928"/>
            <a:ext cx="8686800" cy="822960"/>
          </a:xfrm>
          <a:prstGeom prst="rect">
            <a:avLst/>
          </a:prstGeom>
          <a:solidFill>
            <a:srgbClr val="1A2E44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0350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w(k, θ) = θ/2 · (1 + ρ·φ(θ)·k + √((φ(θ)·k + ρ)² + 1 − ρ²))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φ(θ) = η / θ^γ</a:t>
            </a:r>
            <a:pPr algn="ctr"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power-law with 3 global params (η, γ, ρ)  +  ATM var θ per slice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4343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81328"/>
            <a:ext cx="434340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5179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No-Arbitrage Theorem (GJ 2014)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1865376"/>
            <a:ext cx="4160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Butterfly-free: g(k) ≥ 0 guaranteed analytically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Calendar-free: θ non-decreasing in maturity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η(1+|ρ|) ≤ 2 and γ ∈ (0, 0.5] are sufficient conditions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3+n parameter global surface — tractable calibration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3236976"/>
            <a:ext cx="434340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28600" y="3236976"/>
            <a:ext cx="434340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32735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per slice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" y="3621024"/>
            <a:ext cx="41605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 :  ATM total variance (per maturity slice)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 :  vol-of-vol scaling (global)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 :  skew decay exponent (global)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 :  spot-vol correlation (global — constant across T)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481328"/>
            <a:ext cx="4160520" cy="3401568"/>
          </a:xfrm>
          <a:prstGeom prst="rect">
            <a:avLst/>
          </a:prstGeom>
          <a:solidFill>
            <a:srgbClr val="FFF8F0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81328"/>
            <a:ext cx="416052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5179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 → Motivates eSSVI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64608" y="1865376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is constant across all maturities.
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spot-vol correlation is more negative at short maturities (strong near-expiry skew) and flattens for longer tenors.
</a:t>
            </a:r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limitation is pronounced in crypto: BTC and ETH short-dated IV can reach 200–400%, creating extreme per-slice shapes that SSVI with constant ρ cannot fit simultaneously.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eSSVI — Extended SSVI (Hendriks &amp; Martini, 2019)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Innovation: maturity-dependent correlation  ρ(θ)  — captures crypto term-structure of skew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149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SSVI formula, now with ρ(θ):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w(k, θ) = θ/2 · ( 1 + ρ(θ)·φ(θ)·k + √( (φ(θ)·k + ρ(θ))² + 1 − ρ(θ)² ) 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792224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1965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correlation function: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08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ρ(θ) = ρ∞ + (ρ₀ − ρ∞) · exp(−λ·θ)     [ρ(0) = ρ₀ ,  ρ(∞) = ρ∞]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97480"/>
          <a:ext cx="8595360" cy="233172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 total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&gt; 0, non-decreasing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Vol-of-vol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η &gt; 0,  η(1+|ρ|) ≤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 decay exponent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&lt; γ ≤ 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Short-maturity ρ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|ρ₀| &lt;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Long-maturity ρ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|ρ∞| &lt;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Decay speed of ρ(θ)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— From Raw Deribit Quotes to Clean IV Surface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783080" y="1078992"/>
            <a:ext cx="201168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58368"/>
            <a:ext cx="1554480" cy="4315968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58368"/>
            <a:ext cx="1554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694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Quotes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1752" y="1627632"/>
            <a:ext cx="140817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Deribit REST 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&amp; ETH options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strikes &amp; expiries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snapshots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38728" y="1078992"/>
            <a:ext cx="201168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4248" y="658368"/>
            <a:ext cx="1554480" cy="4315968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84248" y="658368"/>
            <a:ext cx="1554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694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29968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Computation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57400" y="1627632"/>
            <a:ext cx="140817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Black-76 via vollib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bid_iv &amp; ask_iv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Norm. forward F=1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mark_iv = mid quote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94376" y="1078992"/>
            <a:ext cx="201168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9896" y="658368"/>
            <a:ext cx="1554480" cy="4315968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39896" y="658368"/>
            <a:ext cx="1554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9392" y="694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85616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Filter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13048" y="1627632"/>
            <a:ext cx="140817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Zero/negative prices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violations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t, K, or type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Put-call consistency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50024" y="1078992"/>
            <a:ext cx="201168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658368"/>
            <a:ext cx="1554480" cy="4315968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95544" y="658368"/>
            <a:ext cx="1554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694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41264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Filter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68696" y="1627632"/>
            <a:ext cx="140817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open interest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bid-ask spreads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thresholds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IV removal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51192" y="658368"/>
            <a:ext cx="1554480" cy="4315968"/>
          </a:xfrm>
          <a:prstGeom prst="rect">
            <a:avLst/>
          </a:prstGeom>
          <a:solidFill>
            <a:srgbClr val="1A2E44"/>
          </a:solidFill>
          <a:ln w="1270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251192" y="658368"/>
            <a:ext cx="1554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694944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96912" y="10972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 Filter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24344" y="1627632"/>
            <a:ext cx="1408176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w(k,T) monotone in 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Neg. density removal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g(k) ≥ 0 per slice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clean parquet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4800600"/>
            <a:ext cx="8686800" cy="246888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btc_options_data_cleaned.parquet  and  eth_options_data_cleaned.parquet  —  columns: instrument, k, w, t, mark_iv, bid_iv, ask_iv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Framework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Objective Function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621792"/>
            <a:ext cx="73152" cy="731520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704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w-MSE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" y="1115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w_mse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377440" y="749808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on total implied variance w(k). Fast but scale varies across maturities.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1472184"/>
            <a:ext cx="8686800" cy="731520"/>
          </a:xfrm>
          <a:prstGeom prst="rect">
            <a:avLst/>
          </a:prstGeom>
          <a:solidFill>
            <a:srgbClr val="EFF3F7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472184"/>
            <a:ext cx="73152" cy="731520"/>
          </a:xfrm>
          <a:prstGeom prst="rect">
            <a:avLst/>
          </a:prstGeom>
          <a:solidFill>
            <a:srgbClr val="009E8A"/>
          </a:solidFill>
          <a:ln w="12700">
            <a:solidFill>
              <a:srgbClr val="009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IV-MSE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19659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iv_mse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377440" y="1600200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on implied volatility σ(k). Intuitive, same units across maturities.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322576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322576"/>
            <a:ext cx="73152" cy="7315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IV-wMSE  ✓  Primary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28163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iv_wmse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2450592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Spread-weighted MSE — weights ∝ 1/spread². Focuses fit on liquid quotes. Gatheral workshop approach.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172968"/>
            <a:ext cx="8686800" cy="731520"/>
          </a:xfrm>
          <a:prstGeom prst="rect">
            <a:avLst/>
          </a:prstGeom>
          <a:solidFill>
            <a:srgbClr val="EFF3F7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3172968"/>
            <a:ext cx="73152" cy="7315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32552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Vega-wMSE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" y="3666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vega_wmse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77440" y="3300984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Vega²-weighted MSE. Prioritises ATM (highest vega), suppresses wing noise. Combines with spread weights.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" y="4023360"/>
            <a:ext cx="8686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4023360"/>
            <a:ext cx="73152" cy="7315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192" y="4105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Bid-Ask Hinge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" y="45171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7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bid_ask_loss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377440" y="4151376"/>
            <a:ext cx="6400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loss inside [bid_iv, ask_iv]. Penalises only when fit exits the spread — directly optimises compliance.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Strategy — Robustness Against Extreme IV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8686800" cy="1335024"/>
          </a:xfrm>
          <a:prstGeom prst="rect">
            <a:avLst/>
          </a:prstGeom>
          <a:solidFill>
            <a:srgbClr val="243B55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21792"/>
            <a:ext cx="1051560" cy="133502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" y="10515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69494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— Differential Evolution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078992"/>
            <a:ext cx="7406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local minima from extreme short-maturity IV (100–400%)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in unconstrained space: log-transform b, arctanh ρ, logit γ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popsize=8, maxiter=300, seed=42 | eSSVI warm-started from SSVI fits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Per-slice: full DE | Global eSSVI: 3 global + 3n params with 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2084832"/>
            <a:ext cx="8686800" cy="1335024"/>
          </a:xfrm>
          <a:prstGeom prst="rect">
            <a:avLst/>
          </a:prstGeom>
          <a:solidFill>
            <a:srgbClr val="243B55"/>
          </a:solidFill>
          <a:ln w="1905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2084832"/>
            <a:ext cx="1051560" cy="133502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" y="251460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15798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Polish — Nelder-Mead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542032"/>
            <a:ext cx="7406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best DE candidate to high precision (xatol=fatol=1e-9)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maxiter=5000 | No gradient required — robust to non-smooth penalties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unpack: parameters recovered from unconstrained 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eSSVI global: NM warm-start → DE → NM polish (3-phase strategy)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3547872"/>
            <a:ext cx="8686800" cy="1335024"/>
          </a:xfrm>
          <a:prstGeom prst="rect">
            <a:avLst/>
          </a:prstGeom>
          <a:solidFill>
            <a:srgbClr val="243B55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3547872"/>
            <a:ext cx="1051560" cy="133502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397764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621024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Constraints (built into objective)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005072"/>
            <a:ext cx="7406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Butterfly: max(0, −min_g(params)) × 200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crossedness(prev, params) × 500 per adjacent slice pair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variance: max(0, −min(w_fit)) × 10,000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eSSVI global: θ-monotonicity enforced with ×10 calendar penalty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— Measuring Calibration Quality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5760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metrics provide a complete picture of fit quality across vol space, price space and relative scale.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87552"/>
            <a:ext cx="4206240" cy="32918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332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RMSE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" y="13898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√(mean((σ̂ − σ)²))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" y="184708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fit error in implied vol points. Primary benchmark. Target: &lt; 2 vol points at all maturities.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987552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87552"/>
            <a:ext cx="4206240" cy="32918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0332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Relative RMSE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8888" y="13898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√(mean((σ̂/σ − 1)²))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18888" y="184708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by observed vol level — fairer for cross-maturity comparison given crypto IV range 50–400%.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044952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3044952"/>
            <a:ext cx="4206240" cy="329184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0906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RMSE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" y="3447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√(mean((C(σ̂) − C(σ))²))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" y="390448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in normalised Black-76 call prices. Checks economic quality of fit beyond visual vol-space closeness.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44952"/>
            <a:ext cx="42062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044952"/>
            <a:ext cx="420624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309067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RMSE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4472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√(mean((ŵ − w)²))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18888" y="390448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 space error. Directly linked to the optimisation landscape; fast to compute, monotone in IV-RMSE.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— SVI / SSVI / eSSVI / SABR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40080"/>
          <a:ext cx="8686800" cy="4297680"/>
        </p:xfrm>
        <a:graphic>
          <a:graphicData uri="http://schemas.openxmlformats.org/drawingml/2006/table">
            <a:tbl>
              <a:tblPr/>
              <a:tblGrid>
                <a:gridCol w="1447800"/>
                <a:gridCol w="1447800"/>
                <a:gridCol w="1447800"/>
                <a:gridCol w="1447800"/>
                <a:gridCol w="1447800"/>
                <a:gridCol w="14478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Arb-Free?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Term Struct.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 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B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(g≥0 check)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(per-slice)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+ NM 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global + θᵢ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(GJ 2014 Thm 4.4)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constant 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DE + 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 equity, limited for short-mat crypto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eSSVI 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global + 3n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(per-slice g≥0)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ρ₀, ρ∞, 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Warm-start + DE + NM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— handles crypto skew term-structure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SABR (β=1)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native guarantee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(per-slice)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+ NM per slice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Cross-model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E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28600" y="4892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eSSVI is the primary model. Global rho(theta) parametrisation (rho_0, rho_inf, lam) captures the short-maturity skew term-structure that distinguishes crypto from equity.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3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148840"/>
            <a:ext cx="859536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No-Arbitrage Volatility Surfaces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 Arbitrage-Free Volatility Surfaces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621792"/>
            <a:ext cx="86868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621792"/>
            <a:ext cx="8686800" cy="32918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6751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Butterfly Arbitrage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17320" y="10241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g(k) &lt; 0  for some k ∈ 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38988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risk-neutral density — creates an arbitrageable call spread portfolio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7556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17320" y="17556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Analytical:  g(k) = (1−k·w'/2w)² − w'²(1/w+¼)/4 + w''/2 ≥ 0  checked at 50 points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12140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417320" y="21214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−min_g(params)) × 200 added to objective at every evaluation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798064"/>
            <a:ext cx="8686800" cy="20299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798064"/>
            <a:ext cx="8686800" cy="32918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437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Spread Arbitrage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2004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417320" y="320040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w(k, Tᵢ) &gt; w(k, Tᵢ₊₁)  for some 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17320" y="356616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Short-maturity total variance exceeds long-maturity — negative time value, static arb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9319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17320" y="393192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crossedness() = max(0, max_k[w(k,Tᵢ)−w(k,Tᵢ₊₁)])  scanned at 2000 log-strike points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17320" y="42976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crossedness × 500 per slice pair; eSSVI uses θ-monotonicity with ×10 weight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1A2E44"/>
          </a:solidFill>
          <a:ln w="12700">
            <a:solidFill>
              <a:srgbClr val="1A2E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91456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eSSVI global calibration guarantees: butterfly-free slices (analytical min_g) + calendar-free surface (θ-monotonicity) → provably no static arbitrage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47472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474720" cy="457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3401568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SVI, SSVI, eSSVI and SABR implemented from scratch (Python)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 calibration engine with pluggable objectives + penalties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pipeline: Deribit BTC &amp; ETH → filtered &amp; cleaned parquets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eSSVI global fit: ρ(θ) captures crypto term-structure of skew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Provably arbitrage-free surfaces via min_g + θ-monotonicity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17720" y="107899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4297680" cy="3401568"/>
          </a:xfrm>
          <a:prstGeom prst="rect">
            <a:avLst/>
          </a:prstGeom>
          <a:solidFill>
            <a:srgbClr val="243B55"/>
          </a:solidFill>
          <a:ln w="12700">
            <a:solidFill>
              <a:srgbClr val="334E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36192"/>
            <a:ext cx="411480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model evaluation: IV RMSE table across all maturities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visualisations: fitted vs. observed smile per expiry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risk premium study: backtest vol-selling strategies (crypto)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making application: use fitted surface for quote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Extension: intraday surface dynamics and parameter stability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Natixis Quant Awards  ·  December 2026  ·  Volatility Surface Modeling for Cryptocurrencies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Volatility Surface Modeling for Cryptocurrencies</dc:title>
  <dc:subject>PptxGenJS Presentation</dc:subject>
  <dc:creator>Willytom</dc:creator>
  <cp:lastModifiedBy>Willytom</cp:lastModifiedBy>
  <cp:revision>1</cp:revision>
  <dcterms:created xsi:type="dcterms:W3CDTF">2026-06-02T10:08:16Z</dcterms:created>
  <dcterms:modified xsi:type="dcterms:W3CDTF">2026-06-02T10:08:16Z</dcterms:modified>
</cp:coreProperties>
</file>